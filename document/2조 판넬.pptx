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684" r:id="rId1"/>
  </p:sldMasterIdLst>
  <p:sldIdLst>
    <p:sldId id="257" r:id="rId2"/>
  </p:sldIdLst>
  <p:sldSz cx="2879725" cy="5400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showNarration="1">
    <p:present/>
    <p:sldAll/>
    <p:penClr>
      <a:prstClr val="red"/>
    </p:penClr>
    <p:extLst>
      <p:ext uri="{2FDB2607-1784-4EEB-B798-7EB5836EED8A}">
        <p14:showMediaCtrls xmlns:p14="http://schemas.microsoft.com/office/powerpoint/2010/main" val="1"/>
      </p:ext>
    </p:extLst>
  </p:showPr>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8882" autoAdjust="0"/>
    <p:restoredTop sz="94660"/>
  </p:normalViewPr>
  <p:slideViewPr>
    <p:cSldViewPr snapToGrid="0">
      <p:cViewPr varScale="1">
        <p:scale>
          <a:sx n="100" d="100"/>
          <a:sy n="100" d="100"/>
        </p:scale>
        <p:origin x="3392" y="112"/>
      </p:cViewPr>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presProps" Target="presProps.xml"  /><Relationship Id="rId4" Type="http://schemas.openxmlformats.org/officeDocument/2006/relationships/viewProps" Target="viewProps.xml"  /><Relationship Id="rId5" Type="http://schemas.openxmlformats.org/officeDocument/2006/relationships/theme" Target="theme/theme1.xml"  /><Relationship Id="rId6"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215980" y="883861"/>
            <a:ext cx="2447766" cy="1880235"/>
          </a:xfrm>
        </p:spPr>
        <p:txBody>
          <a:bodyPr anchor="b"/>
          <a:lstStyle>
            <a:lvl1pPr algn="ctr">
              <a:defRPr sz="1889"/>
            </a:lvl1pPr>
          </a:lstStyle>
          <a:p>
            <a:r>
              <a:rPr lang="ko-KR" altLang="en-US"/>
              <a:t>마스터 제목 스타일 편집</a:t>
            </a:r>
            <a:endParaRPr lang="en-US" dirty="0"/>
          </a:p>
        </p:txBody>
      </p:sp>
      <p:sp>
        <p:nvSpPr>
          <p:cNvPr id="3" name="Subtitle 2"/>
          <p:cNvSpPr>
            <a:spLocks noGrp="1"/>
          </p:cNvSpPr>
          <p:nvPr>
            <p:ph type="subTitle" idx="1"/>
          </p:nvPr>
        </p:nvSpPr>
        <p:spPr>
          <a:xfrm>
            <a:off x="359966" y="2836605"/>
            <a:ext cx="2159794" cy="1303913"/>
          </a:xfrm>
        </p:spPr>
        <p:txBody>
          <a:bodyPr/>
          <a:lstStyle>
            <a:lvl1pPr marL="0" indent="0" algn="ctr">
              <a:buNone/>
              <a:defRPr sz="756"/>
            </a:lvl1pPr>
            <a:lvl2pPr marL="143972" indent="0" algn="ctr">
              <a:buNone/>
              <a:defRPr sz="630"/>
            </a:lvl2pPr>
            <a:lvl3pPr marL="287945" indent="0" algn="ctr">
              <a:buNone/>
              <a:defRPr sz="567"/>
            </a:lvl3pPr>
            <a:lvl4pPr marL="431917" indent="0" algn="ctr">
              <a:buNone/>
              <a:defRPr sz="504"/>
            </a:lvl4pPr>
            <a:lvl5pPr marL="575889" indent="0" algn="ctr">
              <a:buNone/>
              <a:defRPr sz="504"/>
            </a:lvl5pPr>
            <a:lvl6pPr marL="719861" indent="0" algn="ctr">
              <a:buNone/>
              <a:defRPr sz="504"/>
            </a:lvl6pPr>
            <a:lvl7pPr marL="863834" indent="0" algn="ctr">
              <a:buNone/>
              <a:defRPr sz="504"/>
            </a:lvl7pPr>
            <a:lvl8pPr marL="1007806" indent="0" algn="ctr">
              <a:buNone/>
              <a:defRPr sz="504"/>
            </a:lvl8pPr>
            <a:lvl9pPr marL="1151778" indent="0" algn="ctr">
              <a:buNone/>
              <a:defRPr sz="504"/>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0AE1560E-8A8A-4706-9F31-F8B55E34E6A2}" type="datetimeFigureOut">
              <a:rPr lang="ko-KR" altLang="en-US" smtClean="0"/>
              <a:t>2025-11-05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2367093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0AE1560E-8A8A-4706-9F31-F8B55E34E6A2}" type="datetimeFigureOut">
              <a:rPr lang="ko-KR" altLang="en-US" smtClean="0"/>
              <a:t>2025-11-05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122623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96481" y="1346420"/>
            <a:ext cx="2483763" cy="2246530"/>
          </a:xfrm>
        </p:spPr>
        <p:txBody>
          <a:bodyPr anchor="b"/>
          <a:lstStyle>
            <a:lvl1pPr>
              <a:defRPr sz="1889"/>
            </a:lvl1pPr>
          </a:lstStyle>
          <a:p>
            <a:r>
              <a:rPr lang="ko-KR" altLang="en-US"/>
              <a:t>마스터 제목 스타일 편집</a:t>
            </a:r>
            <a:endParaRPr lang="en-US" dirty="0"/>
          </a:p>
        </p:txBody>
      </p:sp>
      <p:sp>
        <p:nvSpPr>
          <p:cNvPr id="3" name="Text Placeholder 2"/>
          <p:cNvSpPr>
            <a:spLocks noGrp="1"/>
          </p:cNvSpPr>
          <p:nvPr>
            <p:ph type="body" idx="1"/>
          </p:nvPr>
        </p:nvSpPr>
        <p:spPr>
          <a:xfrm>
            <a:off x="196481" y="3614203"/>
            <a:ext cx="2483763" cy="1181397"/>
          </a:xfrm>
        </p:spPr>
        <p:txBody>
          <a:bodyPr/>
          <a:lstStyle>
            <a:lvl1pPr marL="0" indent="0">
              <a:buNone/>
              <a:defRPr sz="756">
                <a:solidFill>
                  <a:schemeClr val="tx1">
                    <a:tint val="82000"/>
                  </a:schemeClr>
                </a:solidFill>
              </a:defRPr>
            </a:lvl1pPr>
            <a:lvl2pPr marL="143972" indent="0">
              <a:buNone/>
              <a:defRPr sz="630">
                <a:solidFill>
                  <a:schemeClr val="tx1">
                    <a:tint val="82000"/>
                  </a:schemeClr>
                </a:solidFill>
              </a:defRPr>
            </a:lvl2pPr>
            <a:lvl3pPr marL="287945" indent="0">
              <a:buNone/>
              <a:defRPr sz="567">
                <a:solidFill>
                  <a:schemeClr val="tx1">
                    <a:tint val="82000"/>
                  </a:schemeClr>
                </a:solidFill>
              </a:defRPr>
            </a:lvl3pPr>
            <a:lvl4pPr marL="431917" indent="0">
              <a:buNone/>
              <a:defRPr sz="504">
                <a:solidFill>
                  <a:schemeClr val="tx1">
                    <a:tint val="82000"/>
                  </a:schemeClr>
                </a:solidFill>
              </a:defRPr>
            </a:lvl4pPr>
            <a:lvl5pPr marL="575889" indent="0">
              <a:buNone/>
              <a:defRPr sz="504">
                <a:solidFill>
                  <a:schemeClr val="tx1">
                    <a:tint val="82000"/>
                  </a:schemeClr>
                </a:solidFill>
              </a:defRPr>
            </a:lvl5pPr>
            <a:lvl6pPr marL="719861" indent="0">
              <a:buNone/>
              <a:defRPr sz="504">
                <a:solidFill>
                  <a:schemeClr val="tx1">
                    <a:tint val="82000"/>
                  </a:schemeClr>
                </a:solidFill>
              </a:defRPr>
            </a:lvl6pPr>
            <a:lvl7pPr marL="863834" indent="0">
              <a:buNone/>
              <a:defRPr sz="504">
                <a:solidFill>
                  <a:schemeClr val="tx1">
                    <a:tint val="82000"/>
                  </a:schemeClr>
                </a:solidFill>
              </a:defRPr>
            </a:lvl7pPr>
            <a:lvl8pPr marL="1007806" indent="0">
              <a:buNone/>
              <a:defRPr sz="504">
                <a:solidFill>
                  <a:schemeClr val="tx1">
                    <a:tint val="82000"/>
                  </a:schemeClr>
                </a:solidFill>
              </a:defRPr>
            </a:lvl8pPr>
            <a:lvl9pPr marL="1151778" indent="0">
              <a:buNone/>
              <a:defRPr sz="504">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0AE1560E-8A8A-4706-9F31-F8B55E34E6A2}" type="datetimeFigureOut">
              <a:rPr lang="ko-KR" altLang="en-US" smtClean="0"/>
              <a:t>2025-11-05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695693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97981" y="1437680"/>
            <a:ext cx="1223883" cy="3426679"/>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1457861" y="1437680"/>
            <a:ext cx="1223883" cy="3426679"/>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0AE1560E-8A8A-4706-9F31-F8B55E34E6A2}" type="datetimeFigureOut">
              <a:rPr lang="ko-KR" altLang="en-US" smtClean="0"/>
              <a:t>2025-11-05</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2130086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98356" y="287537"/>
            <a:ext cx="2483763" cy="1043881"/>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98357" y="1323916"/>
            <a:ext cx="1218258" cy="648831"/>
          </a:xfrm>
        </p:spPr>
        <p:txBody>
          <a:bodyPr anchor="b"/>
          <a:lstStyle>
            <a:lvl1pPr marL="0" indent="0">
              <a:buNone/>
              <a:defRPr sz="756" b="1"/>
            </a:lvl1pPr>
            <a:lvl2pPr marL="143972" indent="0">
              <a:buNone/>
              <a:defRPr sz="630" b="1"/>
            </a:lvl2pPr>
            <a:lvl3pPr marL="287945" indent="0">
              <a:buNone/>
              <a:defRPr sz="567" b="1"/>
            </a:lvl3pPr>
            <a:lvl4pPr marL="431917" indent="0">
              <a:buNone/>
              <a:defRPr sz="504" b="1"/>
            </a:lvl4pPr>
            <a:lvl5pPr marL="575889" indent="0">
              <a:buNone/>
              <a:defRPr sz="504" b="1"/>
            </a:lvl5pPr>
            <a:lvl6pPr marL="719861" indent="0">
              <a:buNone/>
              <a:defRPr sz="504" b="1"/>
            </a:lvl6pPr>
            <a:lvl7pPr marL="863834" indent="0">
              <a:buNone/>
              <a:defRPr sz="504" b="1"/>
            </a:lvl7pPr>
            <a:lvl8pPr marL="1007806" indent="0">
              <a:buNone/>
              <a:defRPr sz="504" b="1"/>
            </a:lvl8pPr>
            <a:lvl9pPr marL="1151778" indent="0">
              <a:buNone/>
              <a:defRPr sz="504"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98357" y="1972747"/>
            <a:ext cx="1218258" cy="290161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1457861" y="1323916"/>
            <a:ext cx="1224258" cy="648831"/>
          </a:xfrm>
        </p:spPr>
        <p:txBody>
          <a:bodyPr anchor="b"/>
          <a:lstStyle>
            <a:lvl1pPr marL="0" indent="0">
              <a:buNone/>
              <a:defRPr sz="756" b="1"/>
            </a:lvl1pPr>
            <a:lvl2pPr marL="143972" indent="0">
              <a:buNone/>
              <a:defRPr sz="630" b="1"/>
            </a:lvl2pPr>
            <a:lvl3pPr marL="287945" indent="0">
              <a:buNone/>
              <a:defRPr sz="567" b="1"/>
            </a:lvl3pPr>
            <a:lvl4pPr marL="431917" indent="0">
              <a:buNone/>
              <a:defRPr sz="504" b="1"/>
            </a:lvl4pPr>
            <a:lvl5pPr marL="575889" indent="0">
              <a:buNone/>
              <a:defRPr sz="504" b="1"/>
            </a:lvl5pPr>
            <a:lvl6pPr marL="719861" indent="0">
              <a:buNone/>
              <a:defRPr sz="504" b="1"/>
            </a:lvl6pPr>
            <a:lvl7pPr marL="863834" indent="0">
              <a:buNone/>
              <a:defRPr sz="504" b="1"/>
            </a:lvl7pPr>
            <a:lvl8pPr marL="1007806" indent="0">
              <a:buNone/>
              <a:defRPr sz="504" b="1"/>
            </a:lvl8pPr>
            <a:lvl9pPr marL="1151778" indent="0">
              <a:buNone/>
              <a:defRPr sz="504"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1457861" y="1972747"/>
            <a:ext cx="1224258" cy="290161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0AE1560E-8A8A-4706-9F31-F8B55E34E6A2}" type="datetimeFigureOut">
              <a:rPr lang="ko-KR" altLang="en-US" smtClean="0"/>
              <a:t>2025-11-05</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2331117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0AE1560E-8A8A-4706-9F31-F8B55E34E6A2}" type="datetimeFigureOut">
              <a:rPr lang="ko-KR" altLang="en-US" smtClean="0"/>
              <a:t>2025-11-05</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557890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E1560E-8A8A-4706-9F31-F8B55E34E6A2}" type="datetimeFigureOut">
              <a:rPr lang="ko-KR" altLang="en-US" smtClean="0"/>
              <a:t>2025-11-05</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3217399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98356" y="360045"/>
            <a:ext cx="928786" cy="1260158"/>
          </a:xfrm>
        </p:spPr>
        <p:txBody>
          <a:bodyPr anchor="b"/>
          <a:lstStyle>
            <a:lvl1pPr>
              <a:defRPr sz="1008"/>
            </a:lvl1pPr>
          </a:lstStyle>
          <a:p>
            <a:r>
              <a:rPr lang="ko-KR" altLang="en-US"/>
              <a:t>마스터 제목 스타일 편집</a:t>
            </a:r>
            <a:endParaRPr lang="en-US" dirty="0"/>
          </a:p>
        </p:txBody>
      </p:sp>
      <p:sp>
        <p:nvSpPr>
          <p:cNvPr id="3" name="Content Placeholder 2"/>
          <p:cNvSpPr>
            <a:spLocks noGrp="1"/>
          </p:cNvSpPr>
          <p:nvPr>
            <p:ph idx="1"/>
          </p:nvPr>
        </p:nvSpPr>
        <p:spPr>
          <a:xfrm>
            <a:off x="1224258" y="777598"/>
            <a:ext cx="1457861" cy="3837980"/>
          </a:xfrm>
        </p:spPr>
        <p:txBody>
          <a:bodyPr/>
          <a:lstStyle>
            <a:lvl1pPr>
              <a:defRPr sz="1008"/>
            </a:lvl1pPr>
            <a:lvl2pPr>
              <a:defRPr sz="882"/>
            </a:lvl2pPr>
            <a:lvl3pPr>
              <a:defRPr sz="756"/>
            </a:lvl3pPr>
            <a:lvl4pPr>
              <a:defRPr sz="630"/>
            </a:lvl4pPr>
            <a:lvl5pPr>
              <a:defRPr sz="630"/>
            </a:lvl5pPr>
            <a:lvl6pPr>
              <a:defRPr sz="630"/>
            </a:lvl6pPr>
            <a:lvl7pPr>
              <a:defRPr sz="630"/>
            </a:lvl7pPr>
            <a:lvl8pPr>
              <a:defRPr sz="630"/>
            </a:lvl8pPr>
            <a:lvl9pPr>
              <a:defRPr sz="63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98356" y="1620202"/>
            <a:ext cx="928786" cy="3001626"/>
          </a:xfrm>
        </p:spPr>
        <p:txBody>
          <a:bodyPr/>
          <a:lstStyle>
            <a:lvl1pPr marL="0" indent="0">
              <a:buNone/>
              <a:defRPr sz="504"/>
            </a:lvl1pPr>
            <a:lvl2pPr marL="143972" indent="0">
              <a:buNone/>
              <a:defRPr sz="441"/>
            </a:lvl2pPr>
            <a:lvl3pPr marL="287945" indent="0">
              <a:buNone/>
              <a:defRPr sz="378"/>
            </a:lvl3pPr>
            <a:lvl4pPr marL="431917" indent="0">
              <a:buNone/>
              <a:defRPr sz="315"/>
            </a:lvl4pPr>
            <a:lvl5pPr marL="575889" indent="0">
              <a:buNone/>
              <a:defRPr sz="315"/>
            </a:lvl5pPr>
            <a:lvl6pPr marL="719861" indent="0">
              <a:buNone/>
              <a:defRPr sz="315"/>
            </a:lvl6pPr>
            <a:lvl7pPr marL="863834" indent="0">
              <a:buNone/>
              <a:defRPr sz="315"/>
            </a:lvl7pPr>
            <a:lvl8pPr marL="1007806" indent="0">
              <a:buNone/>
              <a:defRPr sz="315"/>
            </a:lvl8pPr>
            <a:lvl9pPr marL="1151778" indent="0">
              <a:buNone/>
              <a:defRPr sz="315"/>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0AE1560E-8A8A-4706-9F31-F8B55E34E6A2}" type="datetimeFigureOut">
              <a:rPr lang="ko-KR" altLang="en-US" smtClean="0"/>
              <a:t>2025-11-05</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2144160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98356" y="360045"/>
            <a:ext cx="928786" cy="1260158"/>
          </a:xfrm>
        </p:spPr>
        <p:txBody>
          <a:bodyPr anchor="b"/>
          <a:lstStyle>
            <a:lvl1pPr>
              <a:defRPr sz="1008"/>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1224258" y="777598"/>
            <a:ext cx="1457861" cy="3837980"/>
          </a:xfrm>
        </p:spPr>
        <p:txBody>
          <a:bodyPr anchor="t"/>
          <a:lstStyle>
            <a:lvl1pPr marL="0" indent="0">
              <a:buNone/>
              <a:defRPr sz="1008"/>
            </a:lvl1pPr>
            <a:lvl2pPr marL="143972" indent="0">
              <a:buNone/>
              <a:defRPr sz="882"/>
            </a:lvl2pPr>
            <a:lvl3pPr marL="287945" indent="0">
              <a:buNone/>
              <a:defRPr sz="756"/>
            </a:lvl3pPr>
            <a:lvl4pPr marL="431917" indent="0">
              <a:buNone/>
              <a:defRPr sz="630"/>
            </a:lvl4pPr>
            <a:lvl5pPr marL="575889" indent="0">
              <a:buNone/>
              <a:defRPr sz="630"/>
            </a:lvl5pPr>
            <a:lvl6pPr marL="719861" indent="0">
              <a:buNone/>
              <a:defRPr sz="630"/>
            </a:lvl6pPr>
            <a:lvl7pPr marL="863834" indent="0">
              <a:buNone/>
              <a:defRPr sz="630"/>
            </a:lvl7pPr>
            <a:lvl8pPr marL="1007806" indent="0">
              <a:buNone/>
              <a:defRPr sz="630"/>
            </a:lvl8pPr>
            <a:lvl9pPr marL="1151778" indent="0">
              <a:buNone/>
              <a:defRPr sz="63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98356" y="1620202"/>
            <a:ext cx="928786" cy="3001626"/>
          </a:xfrm>
        </p:spPr>
        <p:txBody>
          <a:bodyPr/>
          <a:lstStyle>
            <a:lvl1pPr marL="0" indent="0">
              <a:buNone/>
              <a:defRPr sz="504"/>
            </a:lvl1pPr>
            <a:lvl2pPr marL="143972" indent="0">
              <a:buNone/>
              <a:defRPr sz="441"/>
            </a:lvl2pPr>
            <a:lvl3pPr marL="287945" indent="0">
              <a:buNone/>
              <a:defRPr sz="378"/>
            </a:lvl3pPr>
            <a:lvl4pPr marL="431917" indent="0">
              <a:buNone/>
              <a:defRPr sz="315"/>
            </a:lvl4pPr>
            <a:lvl5pPr marL="575889" indent="0">
              <a:buNone/>
              <a:defRPr sz="315"/>
            </a:lvl5pPr>
            <a:lvl6pPr marL="719861" indent="0">
              <a:buNone/>
              <a:defRPr sz="315"/>
            </a:lvl6pPr>
            <a:lvl7pPr marL="863834" indent="0">
              <a:buNone/>
              <a:defRPr sz="315"/>
            </a:lvl7pPr>
            <a:lvl8pPr marL="1007806" indent="0">
              <a:buNone/>
              <a:defRPr sz="315"/>
            </a:lvl8pPr>
            <a:lvl9pPr marL="1151778" indent="0">
              <a:buNone/>
              <a:defRPr sz="315"/>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0AE1560E-8A8A-4706-9F31-F8B55E34E6A2}" type="datetimeFigureOut">
              <a:rPr lang="ko-KR" altLang="en-US" smtClean="0"/>
              <a:t>2025-11-05</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1792895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0AE1560E-8A8A-4706-9F31-F8B55E34E6A2}" type="datetimeFigureOut">
              <a:rPr lang="ko-KR" altLang="en-US" smtClean="0"/>
              <a:t>2025-11-05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2967664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0803" y="287536"/>
            <a:ext cx="620941" cy="4576822"/>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97981" y="287536"/>
            <a:ext cx="1826826" cy="4576822"/>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0AE1560E-8A8A-4706-9F31-F8B55E34E6A2}" type="datetimeFigureOut">
              <a:rPr lang="ko-KR" altLang="en-US" smtClean="0"/>
              <a:t>2025-11-05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13969633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7981" y="287537"/>
            <a:ext cx="2483763" cy="1043881"/>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97981" y="1437680"/>
            <a:ext cx="2483763" cy="3426679"/>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97981" y="5005627"/>
            <a:ext cx="647938" cy="287536"/>
          </a:xfrm>
          <a:prstGeom prst="rect">
            <a:avLst/>
          </a:prstGeom>
        </p:spPr>
        <p:txBody>
          <a:bodyPr vert="horz" lIns="91440" tIns="45720" rIns="91440" bIns="45720" rtlCol="0" anchor="ctr"/>
          <a:lstStyle>
            <a:lvl1pPr algn="l">
              <a:defRPr sz="378">
                <a:solidFill>
                  <a:schemeClr val="tx1">
                    <a:tint val="82000"/>
                  </a:schemeClr>
                </a:solidFill>
              </a:defRPr>
            </a:lvl1pPr>
          </a:lstStyle>
          <a:p>
            <a:fld id="{0AE1560E-8A8A-4706-9F31-F8B55E34E6A2}" type="datetimeFigureOut">
              <a:rPr lang="ko-KR" altLang="en-US" smtClean="0"/>
              <a:t>2025-11-05</a:t>
            </a:fld>
            <a:endParaRPr lang="ko-KR" altLang="en-US"/>
          </a:p>
        </p:txBody>
      </p:sp>
      <p:sp>
        <p:nvSpPr>
          <p:cNvPr id="5" name="Footer Placeholder 4"/>
          <p:cNvSpPr>
            <a:spLocks noGrp="1"/>
          </p:cNvSpPr>
          <p:nvPr>
            <p:ph type="ftr" sz="quarter" idx="3"/>
          </p:nvPr>
        </p:nvSpPr>
        <p:spPr>
          <a:xfrm>
            <a:off x="953909" y="5005627"/>
            <a:ext cx="971907" cy="287536"/>
          </a:xfrm>
          <a:prstGeom prst="rect">
            <a:avLst/>
          </a:prstGeom>
        </p:spPr>
        <p:txBody>
          <a:bodyPr vert="horz" lIns="91440" tIns="45720" rIns="91440" bIns="45720" rtlCol="0" anchor="ctr"/>
          <a:lstStyle>
            <a:lvl1pPr algn="ctr">
              <a:defRPr sz="378">
                <a:solidFill>
                  <a:schemeClr val="tx1">
                    <a:tint val="82000"/>
                  </a:schemeClr>
                </a:solidFill>
              </a:defRPr>
            </a:lvl1pPr>
          </a:lstStyle>
          <a:p>
            <a:endParaRPr lang="ko-KR" altLang="en-US"/>
          </a:p>
        </p:txBody>
      </p:sp>
      <p:sp>
        <p:nvSpPr>
          <p:cNvPr id="6" name="Slide Number Placeholder 5"/>
          <p:cNvSpPr>
            <a:spLocks noGrp="1"/>
          </p:cNvSpPr>
          <p:nvPr>
            <p:ph type="sldNum" sz="quarter" idx="4"/>
          </p:nvPr>
        </p:nvSpPr>
        <p:spPr>
          <a:xfrm>
            <a:off x="2033806" y="5005627"/>
            <a:ext cx="647938" cy="287536"/>
          </a:xfrm>
          <a:prstGeom prst="rect">
            <a:avLst/>
          </a:prstGeom>
        </p:spPr>
        <p:txBody>
          <a:bodyPr vert="horz" lIns="91440" tIns="45720" rIns="91440" bIns="45720" rtlCol="0" anchor="ctr"/>
          <a:lstStyle>
            <a:lvl1pPr algn="r">
              <a:defRPr sz="378">
                <a:solidFill>
                  <a:schemeClr val="tx1">
                    <a:tint val="82000"/>
                  </a:schemeClr>
                </a:solidFill>
              </a:defRPr>
            </a:lvl1pPr>
          </a:lstStyle>
          <a:p>
            <a:fld id="{6BF5BCA2-427F-4184-9D1C-75B91AF32CC8}" type="slidenum">
              <a:rPr lang="ko-KR" altLang="en-US" smtClean="0"/>
              <a:t>‹#›</a:t>
            </a:fld>
            <a:endParaRPr lang="ko-KR" altLang="en-US"/>
          </a:p>
        </p:txBody>
      </p:sp>
    </p:spTree>
    <p:extLst>
      <p:ext uri="{BB962C8B-B14F-4D97-AF65-F5344CB8AC3E}">
        <p14:creationId xmlns:p14="http://schemas.microsoft.com/office/powerpoint/2010/main" val="3311348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87945" rtl="0" eaLnBrk="1" latinLnBrk="1" hangingPunct="1">
        <a:lnSpc>
          <a:spcPct val="90000"/>
        </a:lnSpc>
        <a:spcBef>
          <a:spcPct val="0"/>
        </a:spcBef>
        <a:buNone/>
        <a:defRPr sz="1386" kern="1200">
          <a:solidFill>
            <a:schemeClr val="tx1"/>
          </a:solidFill>
          <a:latin typeface="+mj-lt"/>
          <a:ea typeface="+mj-ea"/>
          <a:cs typeface="+mj-cs"/>
        </a:defRPr>
      </a:lvl1pPr>
    </p:titleStyle>
    <p:bodyStyle>
      <a:lvl1pPr marL="71986" indent="-71986" algn="l" defTabSz="287945" rtl="0" eaLnBrk="1" latinLnBrk="1" hangingPunct="1">
        <a:lnSpc>
          <a:spcPct val="90000"/>
        </a:lnSpc>
        <a:spcBef>
          <a:spcPts val="315"/>
        </a:spcBef>
        <a:buFont typeface="Arial" panose="020B0604020202020204" pitchFamily="34" charset="0"/>
        <a:buChar char="•"/>
        <a:defRPr sz="882" kern="1200">
          <a:solidFill>
            <a:schemeClr val="tx1"/>
          </a:solidFill>
          <a:latin typeface="+mn-lt"/>
          <a:ea typeface="+mn-ea"/>
          <a:cs typeface="+mn-cs"/>
        </a:defRPr>
      </a:lvl1pPr>
      <a:lvl2pPr marL="215958" indent="-71986" algn="l" defTabSz="287945" rtl="0" eaLnBrk="1" latinLnBrk="1" hangingPunct="1">
        <a:lnSpc>
          <a:spcPct val="90000"/>
        </a:lnSpc>
        <a:spcBef>
          <a:spcPts val="157"/>
        </a:spcBef>
        <a:buFont typeface="Arial" panose="020B0604020202020204" pitchFamily="34" charset="0"/>
        <a:buChar char="•"/>
        <a:defRPr sz="756" kern="1200">
          <a:solidFill>
            <a:schemeClr val="tx1"/>
          </a:solidFill>
          <a:latin typeface="+mn-lt"/>
          <a:ea typeface="+mn-ea"/>
          <a:cs typeface="+mn-cs"/>
        </a:defRPr>
      </a:lvl2pPr>
      <a:lvl3pPr marL="359931" indent="-71986" algn="l" defTabSz="287945" rtl="0" eaLnBrk="1" latinLnBrk="1" hangingPunct="1">
        <a:lnSpc>
          <a:spcPct val="90000"/>
        </a:lnSpc>
        <a:spcBef>
          <a:spcPts val="157"/>
        </a:spcBef>
        <a:buFont typeface="Arial" panose="020B0604020202020204" pitchFamily="34" charset="0"/>
        <a:buChar char="•"/>
        <a:defRPr sz="630" kern="1200">
          <a:solidFill>
            <a:schemeClr val="tx1"/>
          </a:solidFill>
          <a:latin typeface="+mn-lt"/>
          <a:ea typeface="+mn-ea"/>
          <a:cs typeface="+mn-cs"/>
        </a:defRPr>
      </a:lvl3pPr>
      <a:lvl4pPr marL="503903"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4pPr>
      <a:lvl5pPr marL="647875"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5pPr>
      <a:lvl6pPr marL="791848"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6pPr>
      <a:lvl7pPr marL="935820"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7pPr>
      <a:lvl8pPr marL="1079792"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8pPr>
      <a:lvl9pPr marL="1223764" indent="-71986" algn="l" defTabSz="287945" rtl="0" eaLnBrk="1" latinLnBrk="1" hangingPunct="1">
        <a:lnSpc>
          <a:spcPct val="90000"/>
        </a:lnSpc>
        <a:spcBef>
          <a:spcPts val="157"/>
        </a:spcBef>
        <a:buFont typeface="Arial" panose="020B0604020202020204" pitchFamily="34" charset="0"/>
        <a:buChar char="•"/>
        <a:defRPr sz="567" kern="1200">
          <a:solidFill>
            <a:schemeClr val="tx1"/>
          </a:solidFill>
          <a:latin typeface="+mn-lt"/>
          <a:ea typeface="+mn-ea"/>
          <a:cs typeface="+mn-cs"/>
        </a:defRPr>
      </a:lvl9pPr>
    </p:bodyStyle>
    <p:otherStyle>
      <a:defPPr>
        <a:defRPr lang="en-US"/>
      </a:defPPr>
      <a:lvl1pPr marL="0" algn="l" defTabSz="287945" rtl="0" eaLnBrk="1" latinLnBrk="1" hangingPunct="1">
        <a:defRPr sz="567" kern="1200">
          <a:solidFill>
            <a:schemeClr val="tx1"/>
          </a:solidFill>
          <a:latin typeface="+mn-lt"/>
          <a:ea typeface="+mn-ea"/>
          <a:cs typeface="+mn-cs"/>
        </a:defRPr>
      </a:lvl1pPr>
      <a:lvl2pPr marL="143972" algn="l" defTabSz="287945" rtl="0" eaLnBrk="1" latinLnBrk="1" hangingPunct="1">
        <a:defRPr sz="567" kern="1200">
          <a:solidFill>
            <a:schemeClr val="tx1"/>
          </a:solidFill>
          <a:latin typeface="+mn-lt"/>
          <a:ea typeface="+mn-ea"/>
          <a:cs typeface="+mn-cs"/>
        </a:defRPr>
      </a:lvl2pPr>
      <a:lvl3pPr marL="287945" algn="l" defTabSz="287945" rtl="0" eaLnBrk="1" latinLnBrk="1" hangingPunct="1">
        <a:defRPr sz="567" kern="1200">
          <a:solidFill>
            <a:schemeClr val="tx1"/>
          </a:solidFill>
          <a:latin typeface="+mn-lt"/>
          <a:ea typeface="+mn-ea"/>
          <a:cs typeface="+mn-cs"/>
        </a:defRPr>
      </a:lvl3pPr>
      <a:lvl4pPr marL="431917" algn="l" defTabSz="287945" rtl="0" eaLnBrk="1" latinLnBrk="1" hangingPunct="1">
        <a:defRPr sz="567" kern="1200">
          <a:solidFill>
            <a:schemeClr val="tx1"/>
          </a:solidFill>
          <a:latin typeface="+mn-lt"/>
          <a:ea typeface="+mn-ea"/>
          <a:cs typeface="+mn-cs"/>
        </a:defRPr>
      </a:lvl4pPr>
      <a:lvl5pPr marL="575889" algn="l" defTabSz="287945" rtl="0" eaLnBrk="1" latinLnBrk="1" hangingPunct="1">
        <a:defRPr sz="567" kern="1200">
          <a:solidFill>
            <a:schemeClr val="tx1"/>
          </a:solidFill>
          <a:latin typeface="+mn-lt"/>
          <a:ea typeface="+mn-ea"/>
          <a:cs typeface="+mn-cs"/>
        </a:defRPr>
      </a:lvl5pPr>
      <a:lvl6pPr marL="719861" algn="l" defTabSz="287945" rtl="0" eaLnBrk="1" latinLnBrk="1" hangingPunct="1">
        <a:defRPr sz="567" kern="1200">
          <a:solidFill>
            <a:schemeClr val="tx1"/>
          </a:solidFill>
          <a:latin typeface="+mn-lt"/>
          <a:ea typeface="+mn-ea"/>
          <a:cs typeface="+mn-cs"/>
        </a:defRPr>
      </a:lvl6pPr>
      <a:lvl7pPr marL="863834" algn="l" defTabSz="287945" rtl="0" eaLnBrk="1" latinLnBrk="1" hangingPunct="1">
        <a:defRPr sz="567" kern="1200">
          <a:solidFill>
            <a:schemeClr val="tx1"/>
          </a:solidFill>
          <a:latin typeface="+mn-lt"/>
          <a:ea typeface="+mn-ea"/>
          <a:cs typeface="+mn-cs"/>
        </a:defRPr>
      </a:lvl7pPr>
      <a:lvl8pPr marL="1007806" algn="l" defTabSz="287945" rtl="0" eaLnBrk="1" latinLnBrk="1" hangingPunct="1">
        <a:defRPr sz="567" kern="1200">
          <a:solidFill>
            <a:schemeClr val="tx1"/>
          </a:solidFill>
          <a:latin typeface="+mn-lt"/>
          <a:ea typeface="+mn-ea"/>
          <a:cs typeface="+mn-cs"/>
        </a:defRPr>
      </a:lvl8pPr>
      <a:lvl9pPr marL="1151778" algn="l" defTabSz="287945" rtl="0" eaLnBrk="1" latinLnBrk="1" hangingPunct="1">
        <a:defRPr sz="5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image" Target="../media/image3.png"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0" y="281354"/>
            <a:ext cx="2872691" cy="907363"/>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lvl="0" algn="ctr">
              <a:lnSpc>
                <a:spcPct val="150000"/>
              </a:lnSpc>
              <a:defRPr/>
            </a:pPr>
            <a:endParaRPr lang="ko-KR" altLang="en-US">
              <a:latin typeface="KoPub돋움체 Bold"/>
              <a:ea typeface="KoPub돋움체 Bold"/>
            </a:endParaRPr>
          </a:p>
        </p:txBody>
      </p:sp>
      <p:cxnSp>
        <p:nvCxnSpPr>
          <p:cNvPr id="10" name="직선 연결선 9"/>
          <p:cNvCxnSpPr/>
          <p:nvPr/>
        </p:nvCxnSpPr>
        <p:spPr>
          <a:xfrm>
            <a:off x="0" y="291053"/>
            <a:ext cx="2879725" cy="0"/>
          </a:xfrm>
          <a:prstGeom prst="line">
            <a:avLst/>
          </a:prstGeom>
          <a:ln w="28575">
            <a:solidFill>
              <a:srgbClr val="004098"/>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a:off x="-7034" y="317502"/>
            <a:ext cx="1656184" cy="0"/>
          </a:xfrm>
          <a:prstGeom prst="line">
            <a:avLst/>
          </a:prstGeom>
          <a:ln w="76200">
            <a:solidFill>
              <a:srgbClr val="004098"/>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0" y="357025"/>
            <a:ext cx="2879725" cy="348047"/>
          </a:xfrm>
          <a:prstGeom prst="rect">
            <a:avLst/>
          </a:prstGeom>
        </p:spPr>
        <p:txBody>
          <a:bodyPr vert="horz" lIns="91440" tIns="45720" rIns="91440" bIns="45720" anchor="ctr">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lvl="0" algn="ctr">
              <a:lnSpc>
                <a:spcPct val="100000"/>
              </a:lnSpc>
              <a:defRPr/>
            </a:pPr>
            <a:r>
              <a:rPr lang="ko-KR" altLang="en-US" sz="1000" b="1">
                <a:latin typeface="KoPub돋움체 Bold"/>
                <a:ea typeface="KoPub돋움체 Bold"/>
              </a:rPr>
              <a:t>이 문서</a:t>
            </a:r>
            <a:r>
              <a:rPr lang="en-US" altLang="ko-KR" sz="1000" b="1">
                <a:latin typeface="KoPub돋움체 Bold"/>
                <a:ea typeface="KoPub돋움체 Bold"/>
              </a:rPr>
              <a:t>,</a:t>
            </a:r>
            <a:r>
              <a:rPr lang="ko-KR" altLang="en-US" sz="1000" b="1">
                <a:latin typeface="KoPub돋움체 Bold"/>
                <a:ea typeface="KoPub돋움체 Bold"/>
              </a:rPr>
              <a:t> 어디서 본 듯한데</a:t>
            </a:r>
            <a:r>
              <a:rPr lang="en-US" altLang="ko-KR" sz="1000" b="1">
                <a:latin typeface="KoPub돋움체 Bold"/>
                <a:ea typeface="KoPub돋움체 Bold"/>
              </a:rPr>
              <a:t>..</a:t>
            </a:r>
            <a:r>
              <a:rPr lang="ko-KR" altLang="en-US" sz="1000" b="1">
                <a:latin typeface="KoPub돋움체 Bold"/>
                <a:ea typeface="KoPub돋움체 Bold"/>
              </a:rPr>
              <a:t> 유출 신호</a:t>
            </a:r>
            <a:r>
              <a:rPr lang="en-US" altLang="ko-KR" sz="1000" b="1">
                <a:latin typeface="KoPub돋움체 Bold"/>
                <a:ea typeface="KoPub돋움체 Bold"/>
              </a:rPr>
              <a:t>?</a:t>
            </a:r>
            <a:endParaRPr lang="en-US" altLang="ko-KR" sz="1000" b="1">
              <a:latin typeface="KoPub돋움체 Bold"/>
              <a:ea typeface="KoPub돋움체 Bold"/>
            </a:endParaRPr>
          </a:p>
        </p:txBody>
      </p:sp>
      <p:sp>
        <p:nvSpPr>
          <p:cNvPr id="2" name="제목 2"/>
          <p:cNvSpPr txBox="1"/>
          <p:nvPr/>
        </p:nvSpPr>
        <p:spPr>
          <a:xfrm>
            <a:off x="0" y="29537"/>
            <a:ext cx="2475914" cy="225082"/>
          </a:xfrm>
          <a:prstGeom prst="rect">
            <a:avLst/>
          </a:prstGeom>
        </p:spPr>
        <p:txBody>
          <a:bodyPr vert="horz" lIns="91440" tIns="45720" rIns="91440" bIns="45720" anchor="ctr">
            <a:noAutofit/>
          </a:bodyPr>
          <a:lstStyle>
            <a:lvl1pPr algn="ctr" defTabSz="287945" rtl="0" eaLnBrk="1" latinLnBrk="1" hangingPunct="1">
              <a:lnSpc>
                <a:spcPct val="90000"/>
              </a:lnSpc>
              <a:spcBef>
                <a:spcPct val="0"/>
              </a:spcBef>
              <a:buNone/>
              <a:defRPr sz="1889" kern="1200">
                <a:solidFill>
                  <a:schemeClr val="tx1"/>
                </a:solidFill>
                <a:latin typeface="+mj-lt"/>
                <a:ea typeface="+mj-ea"/>
                <a:cs typeface="+mj-cs"/>
              </a:defRPr>
            </a:lvl1pPr>
          </a:lstStyle>
          <a:p>
            <a:pPr lvl="0" algn="l" latinLnBrk="0">
              <a:defRPr/>
            </a:pPr>
            <a:r>
              <a:rPr lang="en-US" altLang="ko-KR" sz="1200" b="1">
                <a:latin typeface="KoPub돋움체 Bold"/>
                <a:ea typeface="KoPub돋움체 Bold"/>
              </a:rPr>
              <a:t>2025 </a:t>
            </a:r>
            <a:r>
              <a:rPr lang="ko-KR" altLang="en-US" sz="1200" b="1">
                <a:latin typeface="KoPub돋움체 Bold"/>
                <a:ea typeface="KoPub돋움체 Bold"/>
              </a:rPr>
              <a:t>한성 </a:t>
            </a:r>
            <a:r>
              <a:rPr lang="en-US" altLang="ko-KR" sz="1200" b="1">
                <a:latin typeface="KoPub돋움체 Bold"/>
                <a:ea typeface="KoPub돋움체 Bold"/>
              </a:rPr>
              <a:t>SW</a:t>
            </a:r>
            <a:r>
              <a:rPr lang="ko-KR" altLang="en-US" sz="1200" b="1">
                <a:latin typeface="KoPub돋움체 Bold"/>
                <a:ea typeface="KoPub돋움체 Bold"/>
              </a:rPr>
              <a:t>중심대학 페스티벌</a:t>
            </a:r>
            <a:endParaRPr lang="ko-KR" altLang="en-US" sz="1200">
              <a:latin typeface="KoPub돋움체 Bold"/>
              <a:ea typeface="KoPub돋움체 Bold"/>
            </a:endParaRPr>
          </a:p>
        </p:txBody>
      </p:sp>
      <p:sp>
        <p:nvSpPr>
          <p:cNvPr id="7" name="모서리가 둥근 직사각형 4"/>
          <p:cNvSpPr/>
          <p:nvPr/>
        </p:nvSpPr>
        <p:spPr>
          <a:xfrm>
            <a:off x="14068" y="1286568"/>
            <a:ext cx="2832235" cy="509663"/>
          </a:xfrm>
          <a:prstGeom prst="roundRect">
            <a:avLst>
              <a:gd name="adj" fmla="val 9860"/>
            </a:avLst>
          </a:prstGeom>
          <a:solidFill>
            <a:schemeClr val="bg1"/>
          </a:solidFill>
          <a:ln w="9525">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9" name="모서리가 둥근 직사각형 50"/>
          <p:cNvSpPr/>
          <p:nvPr/>
        </p:nvSpPr>
        <p:spPr>
          <a:xfrm>
            <a:off x="21102" y="1235638"/>
            <a:ext cx="1678446" cy="128293"/>
          </a:xfrm>
          <a:prstGeom prst="roundRect">
            <a:avLst>
              <a:gd name="adj" fmla="val 16667"/>
            </a:avLst>
          </a:prstGeom>
          <a:solidFill>
            <a:srgbClr val="004098"/>
          </a:solidFill>
          <a:ln>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ko-KR" altLang="en-US" sz="800">
                <a:solidFill>
                  <a:schemeClr val="bg1"/>
                </a:solidFill>
                <a:latin typeface="KoPub돋움체 Bold"/>
                <a:ea typeface="KoPub돋움체 Bold"/>
              </a:rPr>
              <a:t>추진배경</a:t>
            </a:r>
            <a:endParaRPr lang="ko-KR" altLang="en-US" sz="700" spc="-80">
              <a:solidFill>
                <a:schemeClr val="bg1"/>
              </a:solidFill>
              <a:latin typeface="KoPub돋움체 Bold"/>
              <a:ea typeface="KoPub돋움체 Bold"/>
            </a:endParaRPr>
          </a:p>
        </p:txBody>
      </p:sp>
      <p:sp>
        <p:nvSpPr>
          <p:cNvPr id="14" name="TextBox 13"/>
          <p:cNvSpPr txBox="1"/>
          <p:nvPr/>
        </p:nvSpPr>
        <p:spPr>
          <a:xfrm>
            <a:off x="16711" y="1340090"/>
            <a:ext cx="2848946" cy="320899"/>
          </a:xfrm>
          <a:prstGeom prst="rect">
            <a:avLst/>
          </a:prstGeom>
        </p:spPr>
        <p:txBody>
          <a:bodyPr vert="horz" lIns="91440" tIns="45720" rIns="91440" bIns="45720" anchor="t">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lvl="0">
              <a:defRPr/>
            </a:pPr>
            <a:r>
              <a:rPr lang="ko-KR" altLang="en-US" sz="600" b="1" spc="0">
                <a:latin typeface="KoPub돋움체 Medium"/>
                <a:ea typeface="KoPub돋움체 Medium"/>
              </a:rPr>
              <a:t>투자 업계의 숫자 하나, 그래프 한 장은 기업의 핵심 기밀이자 시장을 뒤흔들 수 있는 민감 정보입니다. 이러한 정보가 유출될 경우 단순한 손실을 넘어 금융 범죄와 광범위한 사회적 파급으로 이어집니다. SG증권 사태와 CJ ENM 주가조작 사례는 미공개 정보 악용이 투자자 피해와 시장 신뢰 붕괴를 초래한다는 사실을 분명히 보여줍니다.</a:t>
            </a:r>
            <a:endParaRPr lang="ko-KR" altLang="en-US" sz="600" b="1" spc="0">
              <a:latin typeface="KoPub돋움체 Medium"/>
              <a:ea typeface="KoPub돋움체 Medium"/>
            </a:endParaRPr>
          </a:p>
        </p:txBody>
      </p:sp>
      <p:sp>
        <p:nvSpPr>
          <p:cNvPr id="15" name="모서리가 둥근 직사각형 4"/>
          <p:cNvSpPr/>
          <p:nvPr/>
        </p:nvSpPr>
        <p:spPr>
          <a:xfrm>
            <a:off x="14068" y="1885911"/>
            <a:ext cx="2832235" cy="623234"/>
          </a:xfrm>
          <a:prstGeom prst="roundRect">
            <a:avLst>
              <a:gd name="adj" fmla="val 9860"/>
            </a:avLst>
          </a:prstGeom>
          <a:solidFill>
            <a:schemeClr val="bg1"/>
          </a:solidFill>
          <a:ln w="9525">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16" name="모서리가 둥근 직사각형 50"/>
          <p:cNvSpPr/>
          <p:nvPr/>
        </p:nvSpPr>
        <p:spPr>
          <a:xfrm>
            <a:off x="21102" y="1834981"/>
            <a:ext cx="1685480" cy="149428"/>
          </a:xfrm>
          <a:prstGeom prst="roundRect">
            <a:avLst>
              <a:gd name="adj" fmla="val 16667"/>
            </a:avLst>
          </a:prstGeom>
          <a:solidFill>
            <a:srgbClr val="004098"/>
          </a:solidFill>
          <a:ln>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ko-KR" altLang="en-US" sz="800">
                <a:solidFill>
                  <a:schemeClr val="bg1"/>
                </a:solidFill>
                <a:latin typeface="KoPub돋움체 Bold"/>
                <a:ea typeface="KoPub돋움체 Bold"/>
              </a:rPr>
              <a:t>프로젝트 목적</a:t>
            </a:r>
            <a:endParaRPr lang="ko-KR" altLang="en-US" sz="800">
              <a:solidFill>
                <a:schemeClr val="bg1"/>
              </a:solidFill>
              <a:latin typeface="KoPub돋움체 Bold"/>
              <a:ea typeface="KoPub돋움체 Bold"/>
            </a:endParaRPr>
          </a:p>
        </p:txBody>
      </p:sp>
      <p:sp>
        <p:nvSpPr>
          <p:cNvPr id="17" name="TextBox 16"/>
          <p:cNvSpPr txBox="1"/>
          <p:nvPr/>
        </p:nvSpPr>
        <p:spPr>
          <a:xfrm>
            <a:off x="9677" y="1960535"/>
            <a:ext cx="2832235" cy="320899"/>
          </a:xfrm>
          <a:prstGeom prst="rect">
            <a:avLst/>
          </a:prstGeom>
        </p:spPr>
        <p:txBody>
          <a:bodyPr vert="horz" lIns="91440" tIns="45720" rIns="91440" bIns="45720" anchor="t">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lvl="0">
              <a:defRPr/>
            </a:pPr>
            <a:r>
              <a:rPr lang="ko-KR" altLang="en-US" sz="600" b="1" spc="0">
                <a:latin typeface="KoPub돋움체 Medium"/>
                <a:ea typeface="KoPub돋움체 Medium"/>
              </a:rPr>
              <a:t>투자회사 내부의 핵심 기밀 자료인 투심보고서를 이후 업로드되는 문서와의 </a:t>
            </a:r>
            <a:r>
              <a:rPr lang="en-US" altLang="ko-KR" sz="600" b="1" spc="0">
                <a:latin typeface="KoPub돋움체 Medium"/>
                <a:ea typeface="KoPub돋움체 Medium"/>
              </a:rPr>
              <a:t>AI</a:t>
            </a:r>
            <a:r>
              <a:rPr lang="ko-KR" altLang="en-US" sz="600" b="1" spc="0">
                <a:latin typeface="KoPub돋움체 Medium"/>
                <a:ea typeface="KoPub돋움체 Medium"/>
              </a:rPr>
              <a:t> 기반 유사도 비교 분석을 통해 내부 정보 유출을 탐지하는 시스템을 구축하는 것에 있습니다</a:t>
            </a:r>
            <a:r>
              <a:rPr lang="en-US" altLang="ko-KR" sz="600" b="1" spc="0">
                <a:latin typeface="KoPub돋움체 Medium"/>
                <a:ea typeface="KoPub돋움체 Medium"/>
              </a:rPr>
              <a:t>.</a:t>
            </a:r>
            <a:r>
              <a:rPr lang="ko-KR" altLang="en-US" sz="600" b="1" spc="0">
                <a:latin typeface="KoPub돋움체 Medium"/>
                <a:ea typeface="KoPub돋움체 Medium"/>
              </a:rPr>
              <a:t> 기존 </a:t>
            </a:r>
            <a:r>
              <a:rPr lang="en-US" altLang="ko-KR" sz="600" b="1" spc="0">
                <a:latin typeface="KoPub돋움체 Medium"/>
                <a:ea typeface="KoPub돋움체 Medium"/>
              </a:rPr>
              <a:t>DLP</a:t>
            </a:r>
            <a:r>
              <a:rPr lang="ko-KR" altLang="en-US" sz="600" b="1" spc="0">
                <a:latin typeface="KoPub돋움체 Medium"/>
                <a:ea typeface="KoPub돋움체 Medium"/>
              </a:rPr>
              <a:t> 시스템에 </a:t>
            </a:r>
            <a:r>
              <a:rPr lang="en-US" altLang="ko-KR" sz="600" b="1" spc="0">
                <a:latin typeface="KoPub돋움체 Medium"/>
                <a:ea typeface="KoPub돋움체 Medium"/>
              </a:rPr>
              <a:t>LLM</a:t>
            </a:r>
            <a:r>
              <a:rPr lang="ko-KR" altLang="en-US" sz="600" b="1" spc="0">
                <a:latin typeface="KoPub돋움체 Medium"/>
                <a:ea typeface="KoPub돋움체 Medium"/>
              </a:rPr>
              <a:t>을 추가적으로 적용하여 문서 간 의미적 맥락을 종합적으로 해석하고 유사도 점수를 동적으로 보정하는 구조를 도입했습니다</a:t>
            </a:r>
            <a:r>
              <a:rPr lang="en-US" altLang="ko-KR" sz="600" b="1" spc="0">
                <a:latin typeface="KoPub돋움체 Medium"/>
                <a:ea typeface="KoPub돋움체 Medium"/>
              </a:rPr>
              <a:t>.</a:t>
            </a:r>
            <a:r>
              <a:rPr lang="ko-KR" altLang="en-US" sz="600" b="1" spc="0">
                <a:latin typeface="KoPub돋움체 Medium"/>
                <a:ea typeface="KoPub돋움체 Medium"/>
              </a:rPr>
              <a:t> 이를 통해 단순한 수치 계산에 그치지 않고 문서의 실제 의미적 유사성을 반영하는 탐지 체계를 구현하고자 합니다</a:t>
            </a:r>
            <a:r>
              <a:rPr lang="en-US" altLang="ko-KR" sz="600" b="1" spc="0">
                <a:latin typeface="KoPub돋움체 Medium"/>
                <a:ea typeface="KoPub돋움체 Medium"/>
              </a:rPr>
              <a:t>.</a:t>
            </a:r>
            <a:endParaRPr lang="en-US" altLang="ko-KR" sz="600" b="1" spc="0">
              <a:latin typeface="KoPub돋움체 Medium"/>
              <a:ea typeface="KoPub돋움체 Medium"/>
            </a:endParaRPr>
          </a:p>
        </p:txBody>
      </p:sp>
      <p:sp>
        <p:nvSpPr>
          <p:cNvPr id="18" name="모서리가 둥근 직사각형 4"/>
          <p:cNvSpPr/>
          <p:nvPr/>
        </p:nvSpPr>
        <p:spPr>
          <a:xfrm>
            <a:off x="14068" y="2594281"/>
            <a:ext cx="2832235" cy="860243"/>
          </a:xfrm>
          <a:prstGeom prst="roundRect">
            <a:avLst>
              <a:gd name="adj" fmla="val 9860"/>
            </a:avLst>
          </a:prstGeom>
          <a:solidFill>
            <a:schemeClr val="bg1"/>
          </a:solidFill>
          <a:ln w="9525">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24" name="모서리가 둥근 직사각형 4"/>
          <p:cNvSpPr/>
          <p:nvPr/>
        </p:nvSpPr>
        <p:spPr>
          <a:xfrm>
            <a:off x="14068" y="4415500"/>
            <a:ext cx="2832235" cy="985175"/>
          </a:xfrm>
          <a:prstGeom prst="roundRect">
            <a:avLst>
              <a:gd name="adj" fmla="val 9860"/>
            </a:avLst>
          </a:prstGeom>
          <a:solidFill>
            <a:schemeClr val="bg1"/>
          </a:solidFill>
          <a:ln w="9525">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25" name="모서리가 둥근 직사각형 50"/>
          <p:cNvSpPr/>
          <p:nvPr/>
        </p:nvSpPr>
        <p:spPr>
          <a:xfrm>
            <a:off x="21102" y="4318936"/>
            <a:ext cx="1685480" cy="149428"/>
          </a:xfrm>
          <a:prstGeom prst="roundRect">
            <a:avLst>
              <a:gd name="adj" fmla="val 16667"/>
            </a:avLst>
          </a:prstGeom>
          <a:solidFill>
            <a:srgbClr val="004098"/>
          </a:solidFill>
          <a:ln>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ko-KR" altLang="en-US" sz="800">
                <a:solidFill>
                  <a:schemeClr val="bg1"/>
                </a:solidFill>
                <a:latin typeface="KoPub돋움체 Bold"/>
                <a:ea typeface="KoPub돋움체 Bold"/>
              </a:rPr>
              <a:t>결론</a:t>
            </a:r>
            <a:endParaRPr lang="ko-KR" altLang="en-US" sz="800">
              <a:solidFill>
                <a:schemeClr val="bg1"/>
              </a:solidFill>
              <a:latin typeface="KoPub돋움체 Bold"/>
              <a:ea typeface="KoPub돋움체 Bold"/>
            </a:endParaRPr>
          </a:p>
        </p:txBody>
      </p:sp>
      <p:sp>
        <p:nvSpPr>
          <p:cNvPr id="26" name="TextBox 25"/>
          <p:cNvSpPr txBox="1"/>
          <p:nvPr/>
        </p:nvSpPr>
        <p:spPr>
          <a:xfrm>
            <a:off x="14068" y="4466031"/>
            <a:ext cx="2832235" cy="613175"/>
          </a:xfrm>
          <a:prstGeom prst="rect">
            <a:avLst/>
          </a:prstGeom>
        </p:spPr>
        <p:txBody>
          <a:bodyPr vert="horz" lIns="91440" tIns="45720" rIns="91440" bIns="45720" anchor="t">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marL="0" lvl="0" indent="0" algn="l" defTabSz="287945" rtl="0" eaLnBrk="1" latinLnBrk="1" hangingPunct="1">
              <a:lnSpc>
                <a:spcPct val="90000"/>
              </a:lnSpc>
              <a:spcBef>
                <a:spcPct val="0"/>
              </a:spcBef>
              <a:spcAft>
                <a:spcPts val="0"/>
              </a:spcAft>
              <a:buNone/>
              <a:defRPr/>
            </a:pPr>
            <a:r>
              <a:rPr xmlns:mc="http://schemas.openxmlformats.org/markup-compatibility/2006" xmlns:hp="http://schemas.haansoft.com/office/presentation/8.0" kumimoji="0" lang="ko-KR" altLang="en-US" sz="600" b="1" i="0" u="none" strike="noStrike" kern="1200" cap="none" spc="0" normalizeH="0" baseline="0" mc:Ignorable="hp" hp:hslEmbossed="0">
                <a:solidFill>
                  <a:srgbClr val="000000"/>
                </a:solidFill>
                <a:latin typeface="KoPub돋움체 Medium"/>
                <a:ea typeface="KoPub돋움체 Medium"/>
              </a:rPr>
              <a:t>투자회사 특화 AI 유사 문서 검출 시스템을 구축하여, 임베딩(코사인)과 BM25를 병렬로 산출하고 LLM 하이브리드로 통합해 정확도·견고성을 확보했다. 프로그램의 성능을 검증하기 위해 테스트를 수행하였다. 전기차 배터리 관련 문서를 업로드하여 분석한 결과, 코사인 유사도와 BM25 단어 유사도 모두에서 상위 3개 문서가 모두 배터리 관련 문서로 판별되었다. 이로써 단순 키워드 매칭을 넘어 문맥적 의미 유사성과 도메인 용어 분포를 함께 고려하는 시스템을 개발할 수 있었다</a:t>
            </a: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a:t>
            </a:r>
            <a:r>
              <a:rPr xmlns:mc="http://schemas.openxmlformats.org/markup-compatibility/2006" xmlns:hp="http://schemas.haansoft.com/office/presentation/8.0" kumimoji="0" lang="ko-KR" altLang="en-US" sz="600" b="1" i="0" u="none" strike="noStrike" kern="1200" cap="none" spc="0" normalizeH="0" baseline="0" mc:Ignorable="hp" hp:hslEmbossed="0">
                <a:solidFill>
                  <a:srgbClr val="000000"/>
                </a:solidFill>
                <a:latin typeface="KoPub돋움체 Medium"/>
                <a:ea typeface="KoPub돋움체 Medium"/>
              </a:rPr>
              <a:t> </a:t>
            </a:r>
            <a:endParaRPr lang="en-US" altLang="ko-KR" sz="600" b="1" spc="0">
              <a:latin typeface="KoPub돋움체 Medium"/>
              <a:ea typeface="KoPub돋움체 Medium"/>
            </a:endParaRPr>
          </a:p>
        </p:txBody>
      </p:sp>
      <p:sp>
        <p:nvSpPr>
          <p:cNvPr id="27" name="TextBox 26"/>
          <p:cNvSpPr txBox="1"/>
          <p:nvPr/>
        </p:nvSpPr>
        <p:spPr>
          <a:xfrm>
            <a:off x="-7034" y="682754"/>
            <a:ext cx="2879725" cy="495010"/>
          </a:xfrm>
          <a:prstGeom prst="rect">
            <a:avLst/>
          </a:prstGeom>
        </p:spPr>
        <p:txBody>
          <a:bodyPr vert="horz" lIns="91440" tIns="45720" rIns="91440" bIns="45720" anchor="ctr">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lvl="0">
              <a:defRPr/>
            </a:pPr>
            <a:r>
              <a:rPr lang="ko-KR" altLang="en-US" sz="800">
                <a:latin typeface="고려대학교M"/>
                <a:ea typeface="고려대학교M"/>
              </a:rPr>
              <a:t>과목명</a:t>
            </a:r>
            <a:r>
              <a:rPr lang="en-US" altLang="ko-KR" sz="800">
                <a:latin typeface="고려대학교M"/>
                <a:ea typeface="고려대학교M"/>
              </a:rPr>
              <a:t>: </a:t>
            </a:r>
            <a:r>
              <a:rPr lang="ko-KR" altLang="en-US" sz="800">
                <a:latin typeface="고려대학교M"/>
                <a:ea typeface="고려대학교M"/>
              </a:rPr>
              <a:t>융합보안 프리캡스톤 디자인</a:t>
            </a:r>
            <a:endParaRPr lang="ko-KR" altLang="en-US" sz="800">
              <a:latin typeface="고려대학교M"/>
              <a:ea typeface="고려대학교M"/>
            </a:endParaRPr>
          </a:p>
          <a:p>
            <a:pPr lvl="0">
              <a:defRPr/>
            </a:pPr>
            <a:r>
              <a:rPr lang="ko-KR" altLang="en-US" sz="800">
                <a:latin typeface="고려대학교M"/>
                <a:ea typeface="고려대학교M"/>
              </a:rPr>
              <a:t>한동균</a:t>
            </a:r>
            <a:r>
              <a:rPr lang="en-US" altLang="ko-KR" sz="800">
                <a:latin typeface="고려대학교M"/>
                <a:ea typeface="고려대학교M"/>
              </a:rPr>
              <a:t>(</a:t>
            </a:r>
            <a:r>
              <a:rPr lang="ko-KR" altLang="en-US" sz="800">
                <a:latin typeface="고려대학교M"/>
                <a:ea typeface="고려대학교M"/>
              </a:rPr>
              <a:t>융합보안학과</a:t>
            </a:r>
            <a:r>
              <a:rPr lang="en-US" altLang="ko-KR" sz="800">
                <a:latin typeface="고려대학교M"/>
                <a:ea typeface="고려대학교M"/>
              </a:rPr>
              <a:t>),</a:t>
            </a:r>
            <a:r>
              <a:rPr lang="ko-KR" altLang="en-US" sz="800">
                <a:latin typeface="고려대학교M"/>
                <a:ea typeface="고려대학교M"/>
              </a:rPr>
              <a:t> 유예지</a:t>
            </a:r>
            <a:r>
              <a:rPr lang="en-US" altLang="ko-KR" sz="800">
                <a:latin typeface="고려대학교M"/>
                <a:ea typeface="고려대학교M"/>
              </a:rPr>
              <a:t>(</a:t>
            </a:r>
            <a:r>
              <a:rPr lang="ko-KR" altLang="en-US" sz="800">
                <a:latin typeface="고려대학교M"/>
                <a:ea typeface="고려대학교M"/>
              </a:rPr>
              <a:t>융합보안학과</a:t>
            </a:r>
            <a:r>
              <a:rPr lang="en-US" altLang="ko-KR" sz="800">
                <a:latin typeface="고려대학교M"/>
                <a:ea typeface="고려대학교M"/>
              </a:rPr>
              <a:t>)</a:t>
            </a:r>
            <a:endParaRPr lang="en-US" altLang="ko-KR" sz="800">
              <a:latin typeface="고려대학교M"/>
              <a:ea typeface="고려대학교M"/>
            </a:endParaRPr>
          </a:p>
          <a:p>
            <a:pPr lvl="0">
              <a:defRPr/>
            </a:pPr>
            <a:r>
              <a:rPr lang="ko-KR" altLang="en-US" sz="800">
                <a:latin typeface="고려대학교M"/>
                <a:ea typeface="고려대학교M"/>
              </a:rPr>
              <a:t>지도교수</a:t>
            </a:r>
            <a:r>
              <a:rPr lang="en-US" altLang="ko-KR" sz="800">
                <a:latin typeface="고려대학교M"/>
                <a:ea typeface="고려대학교M"/>
              </a:rPr>
              <a:t>: </a:t>
            </a:r>
            <a:r>
              <a:rPr lang="ko-KR" altLang="en-US" sz="800">
                <a:latin typeface="고려대학교M"/>
                <a:ea typeface="고려대학교M"/>
              </a:rPr>
              <a:t>김승천 교수</a:t>
            </a:r>
            <a:r>
              <a:rPr lang="en-US" altLang="ko-KR" sz="800">
                <a:latin typeface="고려대학교M"/>
                <a:ea typeface="고려대학교M"/>
              </a:rPr>
              <a:t>,</a:t>
            </a:r>
            <a:r>
              <a:rPr lang="ko-KR" altLang="en-US" sz="800">
                <a:latin typeface="고려대학교M"/>
                <a:ea typeface="고려대학교M"/>
              </a:rPr>
              <a:t> 이강신 교수</a:t>
            </a:r>
            <a:endParaRPr lang="ko-KR" altLang="en-US" sz="800">
              <a:latin typeface="고려대학교M"/>
              <a:ea typeface="고려대학교M"/>
            </a:endParaRPr>
          </a:p>
          <a:p>
            <a:pPr lvl="0">
              <a:defRPr/>
            </a:pPr>
            <a:r>
              <a:rPr lang="ko-KR" altLang="en-US" sz="800">
                <a:latin typeface="고려대학교M"/>
                <a:ea typeface="고려대학교M"/>
              </a:rPr>
              <a:t>산업체 멘토</a:t>
            </a:r>
            <a:r>
              <a:rPr lang="en-US" altLang="ko-KR" sz="800">
                <a:latin typeface="고려대학교M"/>
                <a:ea typeface="고려대학교M"/>
              </a:rPr>
              <a:t>:</a:t>
            </a:r>
            <a:r>
              <a:rPr lang="ko-KR" altLang="en-US" sz="800">
                <a:latin typeface="고려대학교M"/>
                <a:ea typeface="고려대학교M"/>
              </a:rPr>
              <a:t>소만사 김정환 팀장</a:t>
            </a:r>
            <a:endParaRPr lang="ko-KR" altLang="en-US" sz="800">
              <a:latin typeface="고려대학교M"/>
              <a:ea typeface="고려대학교M"/>
            </a:endParaRPr>
          </a:p>
        </p:txBody>
      </p:sp>
      <p:pic>
        <p:nvPicPr>
          <p:cNvPr id="30" name=""/>
          <p:cNvPicPr/>
          <p:nvPr/>
        </p:nvPicPr>
        <p:blipFill rotWithShape="1">
          <a:blip r:embed="rId2"/>
          <a:stretch>
            <a:fillRect/>
          </a:stretch>
        </p:blipFill>
        <p:spPr>
          <a:xfrm>
            <a:off x="19050" y="2715332"/>
            <a:ext cx="1728216" cy="720090"/>
          </a:xfrm>
          <a:prstGeom prst="roundRect">
            <a:avLst>
              <a:gd name="adj" fmla="val 9375"/>
            </a:avLst>
          </a:prstGeom>
          <a:ln>
            <a:solidFill>
              <a:srgbClr val="004098"/>
            </a:solidFill>
          </a:ln>
        </p:spPr>
      </p:pic>
      <p:sp>
        <p:nvSpPr>
          <p:cNvPr id="35" name="모서리가 둥근 직사각형 50"/>
          <p:cNvSpPr/>
          <p:nvPr/>
        </p:nvSpPr>
        <p:spPr>
          <a:xfrm>
            <a:off x="21102" y="2549423"/>
            <a:ext cx="1685480" cy="149428"/>
          </a:xfrm>
          <a:prstGeom prst="roundRect">
            <a:avLst>
              <a:gd name="adj" fmla="val 16667"/>
            </a:avLst>
          </a:prstGeom>
          <a:solidFill>
            <a:srgbClr val="004098"/>
          </a:solidFill>
          <a:ln>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ko-KR" altLang="en-US" sz="800">
                <a:solidFill>
                  <a:schemeClr val="bg1"/>
                </a:solidFill>
                <a:latin typeface="KoPub돋움체 Bold"/>
                <a:ea typeface="KoPub돋움체 Bold"/>
              </a:rPr>
              <a:t>기존 </a:t>
            </a:r>
            <a:r>
              <a:rPr lang="en-US" altLang="ko-KR" sz="800">
                <a:solidFill>
                  <a:schemeClr val="bg1"/>
                </a:solidFill>
                <a:latin typeface="KoPub돋움체 Bold"/>
                <a:ea typeface="KoPub돋움체 Bold"/>
              </a:rPr>
              <a:t>DLP</a:t>
            </a:r>
            <a:r>
              <a:rPr lang="ko-KR" altLang="en-US" sz="800">
                <a:solidFill>
                  <a:schemeClr val="bg1"/>
                </a:solidFill>
                <a:latin typeface="KoPub돋움체 Bold"/>
                <a:ea typeface="KoPub돋움체 Bold"/>
              </a:rPr>
              <a:t>와의 차별점</a:t>
            </a:r>
            <a:endParaRPr lang="ko-KR" altLang="en-US" sz="800">
              <a:solidFill>
                <a:schemeClr val="bg1"/>
              </a:solidFill>
              <a:latin typeface="KoPub돋움체 Bold"/>
              <a:ea typeface="KoPub돋움체 Bold"/>
            </a:endParaRPr>
          </a:p>
        </p:txBody>
      </p:sp>
      <p:sp>
        <p:nvSpPr>
          <p:cNvPr id="38" name="모서리가 둥근 직사각형 4"/>
          <p:cNvSpPr/>
          <p:nvPr/>
        </p:nvSpPr>
        <p:spPr>
          <a:xfrm>
            <a:off x="23745" y="3539943"/>
            <a:ext cx="2832235" cy="744768"/>
          </a:xfrm>
          <a:prstGeom prst="roundRect">
            <a:avLst>
              <a:gd name="adj" fmla="val 9860"/>
            </a:avLst>
          </a:prstGeom>
          <a:solidFill>
            <a:srgbClr val="ffffff">
              <a:alpha val="100000"/>
            </a:srgbClr>
          </a:solidFill>
          <a:ln w="9525" cap="flat" cmpd="sng" algn="ctr">
            <a:solidFill>
              <a:srgbClr val="004098">
                <a:alpha val="100000"/>
              </a:srgbClr>
            </a:solidFill>
            <a:prstDash val="solid"/>
            <a:miter/>
          </a:ln>
        </p:spPr>
        <p:txBody>
          <a:bodyPr anchor="ctr"/>
          <a:p>
            <a:pPr marL="0" lvl="0" indent="0" algn="ctr" defTabSz="457200" rtl="0" eaLnBrk="1" latinLnBrk="0" hangingPunct="1">
              <a:lnSpc>
                <a:spcPct val="100000"/>
              </a:lnSpc>
              <a:spcBef>
                <a:spcPct val="0"/>
              </a:spcBef>
              <a:spcAft>
                <a:spcPts val="0"/>
              </a:spcAft>
              <a:buNone/>
              <a:defRPr/>
            </a:pPr>
            <a:endParaRPr xmlns:mc="http://schemas.openxmlformats.org/markup-compatibility/2006" xmlns:hp="http://schemas.haansoft.com/office/presentation/8.0" kumimoji="0" lang="ko-KR" altLang="en-US" sz="2400" b="0" i="0" u="none" strike="noStrike" kern="1200" cap="none" spc="0" normalizeH="0" baseline="0" mc:Ignorable="hp" hp:hslEmbossed="0">
              <a:solidFill>
                <a:srgbClr val="ffffff"/>
              </a:solidFill>
              <a:latin typeface="Aptos"/>
              <a:ea typeface="맑은 고딕"/>
              <a:cs typeface="맑은 고딕"/>
            </a:endParaRPr>
          </a:p>
        </p:txBody>
      </p:sp>
      <p:sp>
        <p:nvSpPr>
          <p:cNvPr id="39" name="모서리가 둥근 직사각형 50"/>
          <p:cNvSpPr/>
          <p:nvPr/>
        </p:nvSpPr>
        <p:spPr>
          <a:xfrm>
            <a:off x="30779" y="3489013"/>
            <a:ext cx="1685480" cy="149428"/>
          </a:xfrm>
          <a:prstGeom prst="roundRect">
            <a:avLst>
              <a:gd name="adj" fmla="val 16667"/>
            </a:avLst>
          </a:prstGeom>
          <a:solidFill>
            <a:srgbClr val="004098">
              <a:alpha val="100000"/>
            </a:srgbClr>
          </a:solidFill>
          <a:ln w="19050" cap="flat" cmpd="sng" algn="ctr">
            <a:solidFill>
              <a:srgbClr val="004098">
                <a:alpha val="100000"/>
              </a:srgbClr>
            </a:solidFill>
            <a:prstDash val="solid"/>
            <a:miter/>
          </a:ln>
        </p:spPr>
        <p:txBody>
          <a:bodyPr anchor="ctr"/>
          <a:p>
            <a:pPr marL="0" lvl="0" indent="0" algn="ctr" defTabSz="457200" rtl="0" eaLnBrk="1" latinLnBrk="0" hangingPunct="1">
              <a:lnSpc>
                <a:spcPct val="100000"/>
              </a:lnSpc>
              <a:spcBef>
                <a:spcPct val="0"/>
              </a:spcBef>
              <a:spcAft>
                <a:spcPts val="0"/>
              </a:spcAft>
              <a:buNone/>
              <a:defRPr/>
            </a:pPr>
            <a:r>
              <a:rPr xmlns:mc="http://schemas.openxmlformats.org/markup-compatibility/2006" xmlns:hp="http://schemas.haansoft.com/office/presentation/8.0" kumimoji="0" lang="ko-KR" altLang="en-US" sz="800" b="0" i="0" u="none" strike="noStrike" kern="1200" cap="none" spc="0" normalizeH="0" baseline="0" mc:Ignorable="hp" hp:hslEmbossed="0">
                <a:solidFill>
                  <a:srgbClr val="ffffff"/>
                </a:solidFill>
                <a:latin typeface="KoPub돋움체 Bold"/>
                <a:ea typeface="KoPub돋움체 Bold"/>
              </a:rPr>
              <a:t>구조 및 주요 적용 기술</a:t>
            </a:r>
            <a:endParaRPr xmlns:mc="http://schemas.openxmlformats.org/markup-compatibility/2006" xmlns:hp="http://schemas.haansoft.com/office/presentation/8.0" kumimoji="0" lang="ko-KR" altLang="en-US" sz="800" b="0" i="0" u="none" strike="noStrike" kern="1200" cap="none" spc="0" normalizeH="0" baseline="0" mc:Ignorable="hp" hp:hslEmbossed="0">
              <a:solidFill>
                <a:srgbClr val="ffffff"/>
              </a:solidFill>
              <a:latin typeface="KoPub돋움체 Bold"/>
              <a:ea typeface="KoPub돋움체 Bold"/>
            </a:endParaRPr>
          </a:p>
        </p:txBody>
      </p:sp>
      <p:pic>
        <p:nvPicPr>
          <p:cNvPr id="41" name=""/>
          <p:cNvPicPr/>
          <p:nvPr/>
        </p:nvPicPr>
        <p:blipFill rotWithShape="1">
          <a:blip r:embed="rId3"/>
          <a:stretch>
            <a:fillRect/>
          </a:stretch>
        </p:blipFill>
        <p:spPr>
          <a:xfrm>
            <a:off x="36830" y="3652837"/>
            <a:ext cx="2088261" cy="612076"/>
          </a:xfrm>
          <a:prstGeom prst="roundRect">
            <a:avLst>
              <a:gd name="adj" fmla="val 7812"/>
            </a:avLst>
          </a:prstGeom>
          <a:noFill/>
          <a:ln w="12700" cap="rnd">
            <a:solidFill>
              <a:srgbClr val="004098">
                <a:alpha val="100000"/>
              </a:srgbClr>
            </a:solidFill>
            <a:prstDash val="solid"/>
            <a:miter/>
          </a:ln>
          <a:effectLst/>
        </p:spPr>
      </p:pic>
      <p:sp>
        <p:nvSpPr>
          <p:cNvPr id="44" name="TextBox 25"/>
          <p:cNvSpPr txBox="1"/>
          <p:nvPr/>
        </p:nvSpPr>
        <p:spPr>
          <a:xfrm>
            <a:off x="1727517" y="2690812"/>
            <a:ext cx="1171257" cy="789211"/>
          </a:xfrm>
          <a:prstGeom prst="rect">
            <a:avLst/>
          </a:prstGeom>
        </p:spPr>
        <p:txBody>
          <a:bodyPr vert="horz" lIns="91440" tIns="45720" rIns="91440" bIns="45720" anchor="t">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marL="0" lvl="0" indent="0" algn="l" defTabSz="287945" rtl="0" eaLnBrk="1" latinLnBrk="1" hangingPunct="1">
              <a:lnSpc>
                <a:spcPct val="90000"/>
              </a:lnSpc>
              <a:spcBef>
                <a:spcPct val="0"/>
              </a:spcBef>
              <a:spcAft>
                <a:spcPts val="0"/>
              </a:spcAft>
              <a:buNone/>
              <a:defRPr/>
            </a:pPr>
            <a:r>
              <a:rPr xmlns:mc="http://schemas.openxmlformats.org/markup-compatibility/2006" xmlns:hp="http://schemas.haansoft.com/office/presentation/8.0" kumimoji="0" lang="ko-KR" altLang="en-US" sz="600" b="1" i="0" u="none" strike="noStrike" kern="1200" cap="none" spc="0" normalizeH="0" baseline="0" mc:Ignorable="hp" hp:hslEmbossed="0">
                <a:solidFill>
                  <a:srgbClr val="000000"/>
                </a:solidFill>
                <a:latin typeface="KoPub돋움체 Medium"/>
                <a:ea typeface="KoPub돋움체 Medium"/>
              </a:rPr>
              <a:t>본 시스템은 의미 기반 </a:t>
            </a: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a:t>
            </a:r>
            <a:r>
              <a:rPr xmlns:mc="http://schemas.openxmlformats.org/markup-compatibility/2006" xmlns:hp="http://schemas.haansoft.com/office/presentation/8.0" kumimoji="0" lang="ko-KR" altLang="en-US" sz="600" b="1" i="0" u="none" strike="noStrike" kern="1200" cap="none" spc="0" normalizeH="0" baseline="0" mc:Ignorable="hp" hp:hslEmbossed="0">
                <a:solidFill>
                  <a:srgbClr val="000000"/>
                </a:solidFill>
                <a:latin typeface="KoPub돋움체 Medium"/>
                <a:ea typeface="KoPub돋움체 Medium"/>
              </a:rPr>
              <a:t> 투자사 전용이라는 이중 구조를 통해 기존 </a:t>
            </a: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DLP</a:t>
            </a:r>
            <a:r>
              <a:rPr xmlns:mc="http://schemas.openxmlformats.org/markup-compatibility/2006" xmlns:hp="http://schemas.haansoft.com/office/presentation/8.0" kumimoji="0" lang="ko-KR" altLang="en-US" sz="600" b="1" i="0" u="none" strike="noStrike" kern="1200" cap="none" spc="0" normalizeH="0" baseline="0" mc:Ignorable="hp" hp:hslEmbossed="0">
                <a:solidFill>
                  <a:srgbClr val="000000"/>
                </a:solidFill>
                <a:latin typeface="KoPub돋움체 Medium"/>
                <a:ea typeface="KoPub돋움체 Medium"/>
              </a:rPr>
              <a:t>와의 차별점을 띄고있다</a:t>
            </a: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a:t>
            </a:r>
            <a:endPar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endParaRPr>
          </a:p>
          <a:p>
            <a:pPr marL="0" lvl="0" indent="0" algn="l" defTabSz="287945" rtl="0" eaLnBrk="1" latinLnBrk="1" hangingPunct="1">
              <a:lnSpc>
                <a:spcPct val="90000"/>
              </a:lnSpc>
              <a:spcBef>
                <a:spcPct val="0"/>
              </a:spcBef>
              <a:spcAft>
                <a:spcPts val="0"/>
              </a:spcAft>
              <a:buNone/>
              <a:defRPr/>
            </a:pPr>
            <a:endPar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endParaRPr>
          </a:p>
          <a:p>
            <a:pPr marL="0" lvl="0" indent="0" algn="l" defTabSz="287945" rtl="0" eaLnBrk="1" latinLnBrk="1" hangingPunct="1">
              <a:lnSpc>
                <a:spcPct val="90000"/>
              </a:lnSpc>
              <a:spcBef>
                <a:spcPct val="0"/>
              </a:spcBef>
              <a:spcAft>
                <a:spcPts val="0"/>
              </a:spcAft>
              <a:buNone/>
              <a:defRPr/>
            </a:pPr>
            <a:r>
              <a:rPr xmlns:mc="http://schemas.openxmlformats.org/markup-compatibility/2006" xmlns:hp="http://schemas.haansoft.com/office/presentation/8.0" kumimoji="0" lang="ko-KR" altLang="en-US" sz="600" b="1" i="0" u="none" strike="noStrike" kern="1200" cap="none" spc="0" normalizeH="0" baseline="0" mc:Ignorable="hp" hp:hslEmbossed="0">
                <a:solidFill>
                  <a:srgbClr val="000000"/>
                </a:solidFill>
                <a:latin typeface="KoPub돋움체 Medium"/>
                <a:ea typeface="KoPub돋움체 Medium"/>
              </a:rPr>
              <a:t>왼쪽의 표는 기존 </a:t>
            </a: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DLP</a:t>
            </a:r>
            <a:r>
              <a:rPr xmlns:mc="http://schemas.openxmlformats.org/markup-compatibility/2006" xmlns:hp="http://schemas.haansoft.com/office/presentation/8.0" kumimoji="0" lang="ko-KR" altLang="en-US" sz="600" b="1" i="0" u="none" strike="noStrike" kern="1200" cap="none" spc="0" normalizeH="0" baseline="0" mc:Ignorable="hp" hp:hslEmbossed="0">
                <a:solidFill>
                  <a:srgbClr val="000000"/>
                </a:solidFill>
                <a:latin typeface="KoPub돋움체 Medium"/>
                <a:ea typeface="KoPub돋움체 Medium"/>
              </a:rPr>
              <a:t> 시스템과 본 시스템의 차이점을 비교한 것이다</a:t>
            </a: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a:t>
            </a:r>
            <a:endPar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endParaRPr>
          </a:p>
        </p:txBody>
      </p:sp>
      <p:sp>
        <p:nvSpPr>
          <p:cNvPr id="45" name="TextBox 25"/>
          <p:cNvSpPr txBox="1"/>
          <p:nvPr/>
        </p:nvSpPr>
        <p:spPr>
          <a:xfrm>
            <a:off x="2121852" y="3551631"/>
            <a:ext cx="724450" cy="720949"/>
          </a:xfrm>
          <a:prstGeom prst="rect">
            <a:avLst/>
          </a:prstGeom>
        </p:spPr>
        <p:txBody>
          <a:bodyPr vert="horz" lIns="91440" tIns="45720" rIns="91440" bIns="45720" anchor="t">
            <a:noAutofit/>
          </a:bodyPr>
          <a:lstStyle>
            <a:defPPr>
              <a:defRPr lang="en-US"/>
            </a:defPPr>
            <a:lvl1pPr defTabSz="287945" latinLnBrk="1">
              <a:lnSpc>
                <a:spcPct val="90000"/>
              </a:lnSpc>
              <a:spcBef>
                <a:spcPct val="0"/>
              </a:spcBef>
              <a:buNone/>
              <a:defRPr sz="1200" spc="-60">
                <a:latin typeface="고려대학교B"/>
                <a:ea typeface="고려대학교B"/>
                <a:cs typeface="+mj-cs"/>
              </a:defRPr>
            </a:lvl1pPr>
          </a:lstStyle>
          <a:p>
            <a:pPr marL="0" lvl="0" indent="0" algn="l" defTabSz="287945" rtl="0" eaLnBrk="1" latinLnBrk="1" hangingPunct="1">
              <a:lnSpc>
                <a:spcPct val="90000"/>
              </a:lnSpc>
              <a:spcBef>
                <a:spcPct val="0"/>
              </a:spcBef>
              <a:spcAft>
                <a:spcPts val="0"/>
              </a:spcAft>
              <a:buNone/>
              <a:defRPr/>
            </a:pP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1.</a:t>
            </a:r>
            <a:r>
              <a:rPr xmlns:mc="http://schemas.openxmlformats.org/markup-compatibility/2006" xmlns:hp="http://schemas.haansoft.com/office/presentation/8.0" kumimoji="0" lang="ko-KR" altLang="en-US" sz="600" b="1" i="0" u="none" strike="noStrike" kern="1200" cap="none" spc="0" normalizeH="0" baseline="0" mc:Ignorable="hp" hp:hslEmbossed="0">
                <a:solidFill>
                  <a:srgbClr val="000000"/>
                </a:solidFill>
                <a:latin typeface="KoPub돋움체 Medium"/>
                <a:ea typeface="KoPub돋움체 Medium"/>
              </a:rPr>
              <a:t> 임베딩</a:t>
            </a: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a:t>
            </a:r>
            <a:endPar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endParaRPr>
          </a:p>
          <a:p>
            <a:pPr marL="0" lvl="0" indent="0" algn="l" defTabSz="287945" rtl="0" eaLnBrk="1" latinLnBrk="1" hangingPunct="1">
              <a:lnSpc>
                <a:spcPct val="90000"/>
              </a:lnSpc>
              <a:spcBef>
                <a:spcPct val="0"/>
              </a:spcBef>
              <a:spcAft>
                <a:spcPts val="0"/>
              </a:spcAft>
              <a:buNone/>
              <a:defRPr/>
            </a:pP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bge-m3-ko</a:t>
            </a:r>
            <a:endPar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endParaRPr>
          </a:p>
          <a:p>
            <a:pPr marL="0" lvl="0" indent="0" algn="l" defTabSz="287945" rtl="0" eaLnBrk="1" latinLnBrk="1" hangingPunct="1">
              <a:lnSpc>
                <a:spcPct val="90000"/>
              </a:lnSpc>
              <a:spcBef>
                <a:spcPct val="0"/>
              </a:spcBef>
              <a:spcAft>
                <a:spcPts val="0"/>
              </a:spcAft>
              <a:buNone/>
              <a:defRPr/>
            </a:pP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2. bm25: rank_bm25</a:t>
            </a:r>
            <a:endPar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endParaRPr>
          </a:p>
          <a:p>
            <a:pPr marL="0" lvl="0" indent="0" algn="l" defTabSz="287945" rtl="0" eaLnBrk="1" latinLnBrk="1" hangingPunct="1">
              <a:lnSpc>
                <a:spcPct val="90000"/>
              </a:lnSpc>
              <a:spcBef>
                <a:spcPct val="0"/>
              </a:spcBef>
              <a:spcAft>
                <a:spcPts val="0"/>
              </a:spcAft>
              <a:buNone/>
              <a:defRPr/>
            </a:pP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3. </a:t>
            </a:r>
            <a:r>
              <a:rPr xmlns:mc="http://schemas.openxmlformats.org/markup-compatibility/2006" xmlns:hp="http://schemas.haansoft.com/office/presentation/8.0" kumimoji="0" lang="ko-KR" altLang="en-US" sz="600" b="1" i="0" u="none" strike="noStrike" kern="1200" cap="none" spc="0" normalizeH="0" baseline="0" mc:Ignorable="hp" hp:hslEmbossed="0">
                <a:solidFill>
                  <a:srgbClr val="000000"/>
                </a:solidFill>
                <a:latin typeface="KoPub돋움체 Medium"/>
                <a:ea typeface="KoPub돋움체 Medium"/>
              </a:rPr>
              <a:t>벡터스토어</a:t>
            </a: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a:t>
            </a:r>
            <a:r>
              <a:rPr xmlns:mc="http://schemas.openxmlformats.org/markup-compatibility/2006" xmlns:hp="http://schemas.haansoft.com/office/presentation/8.0" kumimoji="0" lang="ko-KR" altLang="en-US" sz="600" b="1" i="0" u="none" strike="noStrike" kern="1200" cap="none" spc="0" normalizeH="0" baseline="0" mc:Ignorable="hp" hp:hslEmbossed="0">
                <a:solidFill>
                  <a:srgbClr val="000000"/>
                </a:solidFill>
                <a:latin typeface="KoPub돋움체 Medium"/>
                <a:ea typeface="KoPub돋움체 Medium"/>
              </a:rPr>
              <a:t> </a:t>
            </a: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qdrant</a:t>
            </a:r>
            <a:endPar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endParaRPr>
          </a:p>
          <a:p>
            <a:pPr marL="0" lvl="0" indent="0" algn="l" defTabSz="287945" rtl="0" eaLnBrk="1" latinLnBrk="1" hangingPunct="1">
              <a:lnSpc>
                <a:spcPct val="90000"/>
              </a:lnSpc>
              <a:spcBef>
                <a:spcPct val="0"/>
              </a:spcBef>
              <a:spcAft>
                <a:spcPts val="0"/>
              </a:spcAft>
              <a:buNone/>
              <a:defRPr/>
            </a:pP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4.</a:t>
            </a:r>
            <a:r>
              <a:rPr xmlns:mc="http://schemas.openxmlformats.org/markup-compatibility/2006" xmlns:hp="http://schemas.haansoft.com/office/presentation/8.0" kumimoji="0" lang="ko-KR" altLang="en-US" sz="600" b="1" i="0" u="none" strike="noStrike" kern="1200" cap="none" spc="0" normalizeH="0" baseline="0" mc:Ignorable="hp" hp:hslEmbossed="0">
                <a:solidFill>
                  <a:srgbClr val="000000"/>
                </a:solidFill>
                <a:latin typeface="KoPub돋움체 Medium"/>
                <a:ea typeface="KoPub돋움체 Medium"/>
              </a:rPr>
              <a:t> 협업도구</a:t>
            </a: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a:t>
            </a:r>
            <a:endPar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endParaRPr>
          </a:p>
          <a:p>
            <a:pPr marL="0" lvl="0" indent="0" algn="l" defTabSz="287945" rtl="0" eaLnBrk="1" latinLnBrk="1" hangingPunct="1">
              <a:lnSpc>
                <a:spcPct val="90000"/>
              </a:lnSpc>
              <a:spcBef>
                <a:spcPct val="0"/>
              </a:spcBef>
              <a:spcAft>
                <a:spcPts val="0"/>
              </a:spcAft>
              <a:buNone/>
              <a:defRPr/>
            </a:pPr>
            <a:r>
              <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rPr>
              <a:t>github, notion</a:t>
            </a:r>
            <a:endParaRPr xmlns:mc="http://schemas.openxmlformats.org/markup-compatibility/2006" xmlns:hp="http://schemas.haansoft.com/office/presentation/8.0" kumimoji="0" lang="en-US" altLang="ko-KR" sz="600" b="1" i="0" u="none" strike="noStrike" kern="1200" cap="none" spc="0" normalizeH="0" baseline="0" mc:Ignorable="hp" hp:hslEmbossed="0">
              <a:solidFill>
                <a:srgbClr val="000000"/>
              </a:solidFill>
              <a:latin typeface="KoPub돋움체 Medium"/>
              <a:ea typeface="KoPub돋움체 Medium"/>
            </a:endParaRPr>
          </a:p>
        </p:txBody>
      </p:sp>
      <p:pic>
        <p:nvPicPr>
          <p:cNvPr id="46" name=""/>
          <p:cNvPicPr/>
          <p:nvPr/>
        </p:nvPicPr>
        <p:blipFill rotWithShape="1">
          <a:blip r:embed="rId4"/>
          <a:srcRect b="62720"/>
          <a:stretch>
            <a:fillRect/>
          </a:stretch>
        </p:blipFill>
        <p:spPr>
          <a:xfrm>
            <a:off x="395731" y="5012055"/>
            <a:ext cx="2088261" cy="360045"/>
          </a:xfrm>
          <a:prstGeom prst="roundRect">
            <a:avLst>
              <a:gd name="adj" fmla="val 16667"/>
            </a:avLst>
          </a:prstGeom>
          <a:noFill/>
          <a:ln>
            <a:solidFill>
              <a:srgbClr val="004098"/>
            </a:solidFill>
          </a:ln>
          <a:effectLst/>
        </p:spPr>
      </p:pic>
      <p:sp>
        <p:nvSpPr>
          <p:cNvPr id="47" name=""/>
          <p:cNvSpPr/>
          <p:nvPr/>
        </p:nvSpPr>
        <p:spPr>
          <a:xfrm>
            <a:off x="425847" y="5107383"/>
            <a:ext cx="1865312" cy="178595"/>
          </a:xfrm>
          <a:prstGeom prst="roundRect">
            <a:avLst>
              <a:gd name="adj" fmla="val 16667"/>
            </a:avLst>
          </a:prstGeom>
          <a:noFill/>
          <a:ln w="12700">
            <a:solidFill>
              <a:srgbClr val="ff0000"/>
            </a:solidFill>
          </a:ln>
        </p:spPr>
        <p:style>
          <a:lnRef idx="2">
            <a:schemeClr val="accent1">
              <a:shade val="20000"/>
            </a:schemeClr>
          </a:lnRef>
          <a:fillRef idx="1">
            <a:schemeClr val="accent1"/>
          </a:fillRef>
          <a:effectRef idx="0">
            <a:schemeClr val="accent1"/>
          </a:effectRef>
          <a:fontRef idx="minor">
            <a:schemeClr val="lt1"/>
          </a:fontRef>
        </p:style>
        <p:txBody>
          <a:bodyPr/>
          <a:p>
            <a:pPr lvl="0">
              <a:defRPr/>
            </a:pPr>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테마">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테마">
      <a:majorFont>
        <a:latin typeface="Aptos Display" panose="0211000402020202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232</ep:Words>
  <ep:PresentationFormat>사용자 지정</ep:PresentationFormat>
  <ep:Paragraphs>22</ep:Paragraphs>
  <ep:Slides>1</ep:Slides>
  <ep:Notes>0</ep:Notes>
  <ep:TotalTime>0</ep:TotalTime>
  <ep:HiddenSlides>0</ep:HiddenSlides>
  <ep:MMClips>0</ep:MMClips>
  <ep:HeadingPairs>
    <vt:vector size="4" baseType="variant">
      <vt:variant>
        <vt:lpstr>테마</vt:lpstr>
      </vt:variant>
      <vt:variant>
        <vt:i4>1</vt:i4>
      </vt:variant>
      <vt:variant>
        <vt:lpstr>슬라이드 제목</vt:lpstr>
      </vt:variant>
      <vt:variant>
        <vt:i4>1</vt:i4>
      </vt:variant>
    </vt:vector>
  </ep:HeadingPairs>
  <ep:TitlesOfParts>
    <vt:vector size="2" baseType="lpstr">
      <vt:lpstr>Office 테마</vt:lpstr>
      <vt:lpstr>슬라이드 1</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2024-04-17T15:40:47.000</dcterms:created>
  <dc:creator>미심 정</dc:creator>
  <cp:lastModifiedBy>gkseh</cp:lastModifiedBy>
  <dcterms:modified xsi:type="dcterms:W3CDTF">2025-11-11T14:58:02.085</dcterms:modified>
  <cp:revision>26</cp:revision>
  <dc:title>PowerPoint 프레젠테이션</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